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1300" y="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4049" y="4004944"/>
            <a:ext cx="806640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C2D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1529289"/>
            <a:ext cx="1697990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cmit.mit.edu/problem-solvin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problem-analysis-solution-hand-67054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95267/free-illustration-vector-mission-aim-background" TargetMode="External"/><Relationship Id="rId2" Type="http://schemas.openxmlformats.org/officeDocument/2006/relationships/image" Target="../media/image8.1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score" TargetMode="External"/><Relationship Id="rId2" Type="http://schemas.openxmlformats.org/officeDocument/2006/relationships/image" Target="../media/image9.1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00" y="0"/>
              <a:ext cx="89915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76274"/>
              <a:ext cx="9296400" cy="0"/>
            </a:xfrm>
            <a:custGeom>
              <a:avLst/>
              <a:gdLst/>
              <a:ahLst/>
              <a:cxnLst/>
              <a:rect l="l" t="t" r="r" b="b"/>
              <a:pathLst>
                <a:path w="9296400">
                  <a:moveTo>
                    <a:pt x="0" y="0"/>
                  </a:moveTo>
                  <a:lnTo>
                    <a:pt x="92963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2000" y="4457700"/>
            <a:ext cx="6508751" cy="7330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600" b="1" spc="-45" dirty="0">
                <a:solidFill>
                  <a:srgbClr val="FFFFFF"/>
                </a:solidFill>
                <a:latin typeface="+mj-lt"/>
                <a:cs typeface="Arial MT"/>
              </a:rPr>
              <a:t>Route Optimizers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800" spc="-4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Presenter: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 MT"/>
                <a:cs typeface="Arial MT"/>
              </a:rPr>
              <a:t>Saumya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Raj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Arial MT"/>
                <a:cs typeface="Arial MT"/>
              </a:rPr>
              <a:t>(Team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Leader)</a:t>
            </a:r>
            <a:endParaRPr lang="en-IN" sz="28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spc="-10" dirty="0">
                <a:solidFill>
                  <a:srgbClr val="FFFFFF"/>
                </a:solidFill>
                <a:latin typeface="Arial MT"/>
                <a:cs typeface="Arial MT"/>
              </a:rPr>
              <a:t>Durgesh Giri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spc="-10" dirty="0">
                <a:solidFill>
                  <a:srgbClr val="FFFFFF"/>
                </a:solidFill>
                <a:latin typeface="Arial MT"/>
                <a:cs typeface="Arial MT"/>
              </a:rPr>
              <a:t>Abhishek Meena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spc="-10" dirty="0">
                <a:solidFill>
                  <a:srgbClr val="FFFFFF"/>
                </a:solidFill>
                <a:latin typeface="Arial MT"/>
                <a:cs typeface="Arial MT"/>
              </a:rPr>
              <a:t>Sahil Ahmad</a:t>
            </a:r>
          </a:p>
          <a:p>
            <a:pPr marL="12700">
              <a:lnSpc>
                <a:spcPct val="100000"/>
              </a:lnSpc>
              <a:spcBef>
                <a:spcPts val="4955"/>
              </a:spcBef>
            </a:pPr>
            <a:endParaRPr lang="en-IN" sz="28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55"/>
              </a:spcBef>
            </a:pP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0" dirty="0"/>
              <a:t>Problem</a:t>
            </a:r>
            <a:r>
              <a:rPr spc="-869" dirty="0"/>
              <a:t> </a:t>
            </a:r>
            <a:r>
              <a:rPr spc="-85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49" y="5765831"/>
            <a:ext cx="6228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r>
              <a:rPr sz="28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8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Trebuchet MS"/>
                <a:cs typeface="Trebuchet MS"/>
              </a:rPr>
              <a:t>Urban</a:t>
            </a:r>
            <a:r>
              <a:rPr sz="28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Trebuchet MS"/>
                <a:cs typeface="Trebuchet MS"/>
              </a:rPr>
              <a:t>Traffic</a:t>
            </a:r>
            <a:r>
              <a:rPr sz="28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Congestion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17DFB-1E3F-A87D-89FE-50EC352AB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65637" y="2249188"/>
            <a:ext cx="8890053" cy="4960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5975381"/>
            <a:ext cx="2453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6883400"/>
            <a:ext cx="6854190" cy="14770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gather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process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comprehensive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Arial MT"/>
                <a:cs typeface="Arial MT"/>
              </a:rPr>
              <a:t>traffic-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related</a:t>
            </a:r>
            <a:r>
              <a:rPr sz="24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data,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effective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insights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congestion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patterns,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thereby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enabling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informed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decision-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making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solutions.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3700" y="5975381"/>
            <a:ext cx="2390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Training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3700" y="6883400"/>
            <a:ext cx="6852284" cy="14770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27305">
              <a:lnSpc>
                <a:spcPts val="2850"/>
              </a:lnSpc>
              <a:spcBef>
                <a:spcPts val="219"/>
              </a:spcBef>
            </a:pPr>
            <a:r>
              <a:rPr sz="2400" spc="-95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utilizing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ensemble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models,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we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train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processed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data,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760"/>
              </a:lnSpc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predictions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significantly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reduce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congestion.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70" dirty="0"/>
              <a:t>Proposed</a:t>
            </a:r>
            <a:r>
              <a:rPr spc="-869" dirty="0"/>
              <a:t> </a:t>
            </a:r>
            <a:r>
              <a:rPr spc="-620" dirty="0"/>
              <a:t>Solution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049" y="3289331"/>
            <a:ext cx="5880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Accurate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Traffic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Demand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Forecasting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84ACD9-D0DD-F8CC-138E-DB8C87958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10672" y="776525"/>
            <a:ext cx="7467600" cy="4612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5556281"/>
            <a:ext cx="2092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Sources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6506209"/>
            <a:ext cx="3989070" cy="23641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04"/>
              </a:spcBef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gathered</a:t>
            </a:r>
            <a:r>
              <a:rPr sz="2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MT"/>
                <a:cs typeface="Arial MT"/>
              </a:rPr>
              <a:t>extensive</a:t>
            </a:r>
            <a:r>
              <a:rPr sz="22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2200" spc="5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various</a:t>
            </a: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Arial MT"/>
                <a:cs typeface="Arial MT"/>
              </a:rPr>
              <a:t>sources,</a:t>
            </a: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including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MT"/>
                <a:cs typeface="Arial MT"/>
              </a:rPr>
              <a:t>sensors,</a:t>
            </a:r>
            <a:r>
              <a:rPr sz="22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weather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stations,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urban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infrastructure,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200" spc="-50" dirty="0">
                <a:solidFill>
                  <a:srgbClr val="FFFFFF"/>
                </a:solidFill>
                <a:latin typeface="Arial MT"/>
                <a:cs typeface="Arial MT"/>
              </a:rPr>
              <a:t>ensure</a:t>
            </a:r>
            <a:r>
              <a:rPr sz="2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comprehensive 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understanding</a:t>
            </a:r>
            <a:r>
              <a:rPr sz="22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2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2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patterns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behaviors.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7149" y="5556281"/>
            <a:ext cx="2114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7149" y="6534784"/>
            <a:ext cx="4015104" cy="23641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04"/>
              </a:spcBef>
            </a:pP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sz="2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includes</a:t>
            </a:r>
            <a:r>
              <a:rPr sz="2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critical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22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road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types,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lane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numbers,</a:t>
            </a:r>
            <a:r>
              <a:rPr sz="22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environmental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conditions,</a:t>
            </a:r>
            <a:r>
              <a:rPr sz="2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collectively 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enhance</a:t>
            </a: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our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2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22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predictions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through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detailed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analysis.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0249" y="5556281"/>
            <a:ext cx="3107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Temporal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0249" y="6506209"/>
            <a:ext cx="3872865" cy="23641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04"/>
              </a:spcBef>
            </a:pP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Time-</a:t>
            </a:r>
            <a:r>
              <a:rPr sz="2200" spc="-85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2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2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2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peak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hours</a:t>
            </a:r>
            <a:r>
              <a:rPr sz="22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Arial MT"/>
                <a:cs typeface="Arial MT"/>
              </a:rPr>
              <a:t>seasonal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trends</a:t>
            </a:r>
            <a:r>
              <a:rPr sz="2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were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included,</a:t>
            </a:r>
            <a:r>
              <a:rPr sz="2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allowing</a:t>
            </a:r>
            <a:r>
              <a:rPr sz="2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2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2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capture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fluctuations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traffic 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demand,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MT"/>
                <a:cs typeface="Arial MT"/>
              </a:rPr>
              <a:t>essential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effective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urban</a:t>
            </a:r>
            <a:r>
              <a:rPr sz="22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2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management strategies.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0" dirty="0"/>
              <a:t>Dataset</a:t>
            </a:r>
            <a:r>
              <a:rPr spc="-860" dirty="0"/>
              <a:t> </a:t>
            </a:r>
            <a:r>
              <a:rPr spc="-595" dirty="0"/>
              <a:t>Overview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4049" y="3289331"/>
            <a:ext cx="6079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Essential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traffic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Understanding Datasets: Types, Techniques, and Real-world Applications">
            <a:extLst>
              <a:ext uri="{FF2B5EF4-FFF2-40B4-BE49-F238E27FC236}">
                <a16:creationId xmlns:a16="http://schemas.microsoft.com/office/drawing/2014/main" id="{6BE0AE8F-FF83-81B2-AEB7-2610AC0B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182" y="785668"/>
            <a:ext cx="7923529" cy="450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4075">
              <a:lnSpc>
                <a:spcPct val="100000"/>
              </a:lnSpc>
              <a:spcBef>
                <a:spcPts val="100"/>
              </a:spcBef>
            </a:pPr>
            <a:r>
              <a:rPr spc="-1070" dirty="0"/>
              <a:t>F</a:t>
            </a:r>
            <a:r>
              <a:rPr spc="-720" dirty="0"/>
              <a:t>e</a:t>
            </a:r>
            <a:r>
              <a:rPr spc="-695" dirty="0"/>
              <a:t>a</a:t>
            </a:r>
            <a:r>
              <a:rPr spc="-725" dirty="0"/>
              <a:t>t</a:t>
            </a:r>
            <a:r>
              <a:rPr spc="-690" dirty="0"/>
              <a:t>u</a:t>
            </a:r>
            <a:r>
              <a:rPr spc="-670" dirty="0"/>
              <a:t>r</a:t>
            </a:r>
            <a:r>
              <a:rPr spc="-475" dirty="0"/>
              <a:t>e</a:t>
            </a:r>
            <a:r>
              <a:rPr spc="-880" dirty="0"/>
              <a:t> </a:t>
            </a:r>
            <a:r>
              <a:rPr spc="-535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5425" y="4184681"/>
            <a:ext cx="9690100" cy="166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Cyclic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Incorporating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cyclic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enhances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pattern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recognition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improved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forecasting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trends.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60249" y="6870731"/>
            <a:ext cx="15481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Detection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60249" y="7778750"/>
            <a:ext cx="3912870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spc="-130" dirty="0">
                <a:solidFill>
                  <a:srgbClr val="FFFFFF"/>
                </a:solidFill>
                <a:latin typeface="Arial MT"/>
                <a:cs typeface="Arial MT"/>
              </a:rPr>
              <a:t>Peak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hour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flags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optimize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prediction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accuracy.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5425" y="6870731"/>
            <a:ext cx="1747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Interaction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5425" y="7778750"/>
            <a:ext cx="3921125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Exploring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interaction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features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improves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precision.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9" name="object 9"/>
            <p:cNvSpPr/>
            <p:nvPr/>
          </p:nvSpPr>
          <p:spPr>
            <a:xfrm>
              <a:off x="0" y="66674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79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62024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79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15049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4075">
              <a:lnSpc>
                <a:spcPct val="100000"/>
              </a:lnSpc>
              <a:spcBef>
                <a:spcPts val="100"/>
              </a:spcBef>
            </a:pPr>
            <a:r>
              <a:rPr spc="-810" dirty="0"/>
              <a:t>Geohash</a:t>
            </a:r>
            <a:r>
              <a:rPr spc="-855" dirty="0"/>
              <a:t> </a:t>
            </a:r>
            <a:r>
              <a:rPr spc="-580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5425" y="4184681"/>
            <a:ext cx="8982710" cy="202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Encoding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spc="-95" dirty="0">
                <a:solidFill>
                  <a:srgbClr val="FFFFFF"/>
                </a:solidFill>
                <a:latin typeface="Arial MT"/>
                <a:cs typeface="Arial MT"/>
              </a:rPr>
              <a:t>Geohash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transformed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mean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values,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optimizing</a:t>
            </a:r>
            <a:r>
              <a:rPr sz="24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representation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enhancing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predictive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forecasting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models.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60249" y="6870731"/>
            <a:ext cx="1408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Behavior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60249" y="7778750"/>
            <a:ext cx="367792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Captures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nuanced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location- 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behavior.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5425" y="6870731"/>
            <a:ext cx="1311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Leakage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5425" y="7778750"/>
            <a:ext cx="3016885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Safeguard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against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leakage.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9" name="object 9"/>
            <p:cNvSpPr/>
            <p:nvPr/>
          </p:nvSpPr>
          <p:spPr>
            <a:xfrm>
              <a:off x="0" y="66674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79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62024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79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15049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5556281"/>
            <a:ext cx="2478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Diversity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6501161"/>
            <a:ext cx="3575050" cy="25476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Integrating</a:t>
            </a:r>
            <a:r>
              <a:rPr sz="2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2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models </a:t>
            </a:r>
            <a:r>
              <a:rPr sz="2100" spc="-70" dirty="0">
                <a:solidFill>
                  <a:srgbClr val="FFFFFF"/>
                </a:solidFill>
                <a:latin typeface="Arial MT"/>
                <a:cs typeface="Arial MT"/>
              </a:rPr>
              <a:t>enhances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prediction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accuracy, </a:t>
            </a:r>
            <a:r>
              <a:rPr sz="2100" spc="-45" dirty="0">
                <a:solidFill>
                  <a:srgbClr val="FFFFFF"/>
                </a:solidFill>
                <a:latin typeface="Arial MT"/>
                <a:cs typeface="Arial MT"/>
              </a:rPr>
              <a:t>leveraging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strengths</a:t>
            </a:r>
            <a:r>
              <a:rPr sz="2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21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algorithms</a:t>
            </a:r>
            <a:r>
              <a:rPr sz="21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1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capture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r>
              <a:rPr sz="2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sz="2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improve</a:t>
            </a:r>
            <a:r>
              <a:rPr sz="21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overall</a:t>
            </a:r>
            <a:r>
              <a:rPr sz="21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forecasting performance</a:t>
            </a:r>
            <a:r>
              <a:rPr sz="21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21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varying conditions.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7149" y="5556281"/>
            <a:ext cx="20237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7149" y="6529736"/>
            <a:ext cx="3908425" cy="22332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20"/>
              </a:spcBef>
            </a:pP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ensemble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consists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cutting- </a:t>
            </a:r>
            <a:r>
              <a:rPr sz="2100" spc="-75" dirty="0">
                <a:solidFill>
                  <a:srgbClr val="FFFFFF"/>
                </a:solidFill>
                <a:latin typeface="Arial MT"/>
                <a:cs typeface="Arial MT"/>
              </a:rPr>
              <a:t>edge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r>
              <a:rPr sz="21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4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LightGBM, </a:t>
            </a:r>
            <a:r>
              <a:rPr sz="2100" spc="-45" dirty="0">
                <a:solidFill>
                  <a:srgbClr val="FFFFFF"/>
                </a:solidFill>
                <a:latin typeface="Arial MT"/>
                <a:cs typeface="Arial MT"/>
              </a:rPr>
              <a:t>XGBoost,</a:t>
            </a:r>
            <a:r>
              <a:rPr sz="21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1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CatBoost,</a:t>
            </a:r>
            <a:r>
              <a:rPr sz="21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each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contributing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unique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advantages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bolster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robustness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reliability</a:t>
            </a:r>
            <a:r>
              <a:rPr sz="21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1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1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demand forecasting.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0249" y="5556281"/>
            <a:ext cx="33718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Weighted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Predictions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0249" y="6501161"/>
            <a:ext cx="3997960" cy="191897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25"/>
              </a:spcBef>
            </a:pPr>
            <a:r>
              <a:rPr sz="2100" spc="-75" dirty="0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employing</a:t>
            </a:r>
            <a:r>
              <a:rPr sz="21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1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weighted 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ensemble</a:t>
            </a:r>
            <a:r>
              <a:rPr sz="21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approach,</a:t>
            </a:r>
            <a:r>
              <a:rPr sz="21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optimize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predictions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on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21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performance,</a:t>
            </a:r>
            <a:r>
              <a:rPr sz="21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sz="21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most</a:t>
            </a:r>
            <a:r>
              <a:rPr sz="21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reliable</a:t>
            </a:r>
            <a:r>
              <a:rPr sz="21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r>
              <a:rPr sz="21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influence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greater</a:t>
            </a:r>
            <a:r>
              <a:rPr sz="2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degree.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0" dirty="0"/>
              <a:t>Ensemble</a:t>
            </a:r>
            <a:r>
              <a:rPr spc="-840" dirty="0"/>
              <a:t> </a:t>
            </a:r>
            <a:r>
              <a:rPr spc="-630" dirty="0"/>
              <a:t>Architecture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4049" y="3289331"/>
            <a:ext cx="76587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Utilizing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Techniques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39C216-377F-F3A0-0B0C-635EBB299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4624" y="755568"/>
            <a:ext cx="4795304" cy="4195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5556281"/>
            <a:ext cx="2584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6501161"/>
            <a:ext cx="3745865" cy="25476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Implementing </a:t>
            </a:r>
            <a:r>
              <a:rPr sz="2100" b="1" dirty="0">
                <a:solidFill>
                  <a:srgbClr val="FFFFFF"/>
                </a:solidFill>
                <a:latin typeface="Trebuchet MS"/>
                <a:cs typeface="Trebuchet MS"/>
              </a:rPr>
              <a:t>5-</a:t>
            </a:r>
            <a:r>
              <a:rPr sz="2100" b="1" spc="-20" dirty="0">
                <a:solidFill>
                  <a:srgbClr val="FFFFFF"/>
                </a:solidFill>
                <a:latin typeface="Trebuchet MS"/>
                <a:cs typeface="Trebuchet MS"/>
              </a:rPr>
              <a:t>Fold</a:t>
            </a:r>
            <a:r>
              <a:rPr sz="21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20" dirty="0">
                <a:solidFill>
                  <a:srgbClr val="FFFFFF"/>
                </a:solidFill>
                <a:latin typeface="Trebuchet MS"/>
                <a:cs typeface="Trebuchet MS"/>
              </a:rPr>
              <a:t>Cross </a:t>
            </a:r>
            <a:r>
              <a:rPr sz="2100" b="1" spc="-50" dirty="0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r>
              <a:rPr sz="21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allows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6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reliable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evaluation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partitioning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training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 and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sets,</a:t>
            </a:r>
            <a:r>
              <a:rPr sz="21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ensuring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comprehensive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performance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21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1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reduced</a:t>
            </a:r>
            <a:r>
              <a:rPr sz="21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overfitting risks.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7149" y="5556281"/>
            <a:ext cx="3090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Leakage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Prevention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7149" y="6529736"/>
            <a:ext cx="3848735" cy="22332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2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Utilizing</a:t>
            </a:r>
            <a:r>
              <a:rPr sz="21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b="1" spc="-35" dirty="0">
                <a:solidFill>
                  <a:srgbClr val="FFFFFF"/>
                </a:solidFill>
                <a:latin typeface="Trebuchet MS"/>
                <a:cs typeface="Trebuchet MS"/>
              </a:rPr>
              <a:t>leakage-</a:t>
            </a:r>
            <a:r>
              <a:rPr sz="2100" b="1" spc="-50" dirty="0">
                <a:solidFill>
                  <a:srgbClr val="FFFFFF"/>
                </a:solidFill>
                <a:latin typeface="Trebuchet MS"/>
                <a:cs typeface="Trebuchet MS"/>
              </a:rPr>
              <a:t>safe</a:t>
            </a:r>
            <a:r>
              <a:rPr sz="21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target </a:t>
            </a:r>
            <a:r>
              <a:rPr sz="2100" b="1" spc="-50" dirty="0">
                <a:solidFill>
                  <a:srgbClr val="FFFFFF"/>
                </a:solidFill>
                <a:latin typeface="Trebuchet MS"/>
                <a:cs typeface="Trebuchet MS"/>
              </a:rPr>
              <a:t>encoding</a:t>
            </a:r>
            <a:r>
              <a:rPr sz="21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techniques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preserves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 integrity of the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validation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process,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sz="21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accurate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evaluations</a:t>
            </a:r>
            <a:r>
              <a:rPr sz="21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without</a:t>
            </a:r>
            <a:r>
              <a:rPr sz="21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introducing 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biases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training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into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0249" y="5556281"/>
            <a:ext cx="2330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Generalization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0249" y="6501161"/>
            <a:ext cx="4022090" cy="22332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20"/>
              </a:spcBef>
            </a:pP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strategy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enhances </a:t>
            </a:r>
            <a:r>
              <a:rPr sz="2100" b="1" spc="-70" dirty="0">
                <a:solidFill>
                  <a:srgbClr val="FFFFFF"/>
                </a:solidFill>
                <a:latin typeface="Trebuchet MS"/>
                <a:cs typeface="Trebuchet MS"/>
              </a:rPr>
              <a:t>generalization</a:t>
            </a:r>
            <a:r>
              <a:rPr sz="21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performance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21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maintains high</a:t>
            </a:r>
            <a:r>
              <a:rPr sz="2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21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21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diverse</a:t>
            </a:r>
            <a:r>
              <a:rPr sz="2100" spc="5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1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scenarios,</a:t>
            </a:r>
            <a:r>
              <a:rPr sz="21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ultimately</a:t>
            </a:r>
            <a:r>
              <a:rPr sz="2100" spc="5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leading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Arial MT"/>
                <a:cs typeface="Arial MT"/>
              </a:rPr>
              <a:t>dependable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traffic </a:t>
            </a:r>
            <a:r>
              <a:rPr sz="2100" spc="-3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21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predictions.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0" dirty="0"/>
              <a:t>V</a:t>
            </a:r>
            <a:r>
              <a:rPr spc="-575" dirty="0"/>
              <a:t>a</a:t>
            </a:r>
            <a:r>
              <a:rPr spc="-550" dirty="0"/>
              <a:t>l</a:t>
            </a:r>
            <a:r>
              <a:rPr spc="-545" dirty="0"/>
              <a:t>i</a:t>
            </a:r>
            <a:r>
              <a:rPr spc="-580" dirty="0"/>
              <a:t>d</a:t>
            </a:r>
            <a:r>
              <a:rPr spc="-575" dirty="0"/>
              <a:t>a</a:t>
            </a:r>
            <a:r>
              <a:rPr spc="-605" dirty="0"/>
              <a:t>t</a:t>
            </a:r>
            <a:r>
              <a:rPr spc="-545" dirty="0"/>
              <a:t>i</a:t>
            </a:r>
            <a:r>
              <a:rPr spc="-590" dirty="0"/>
              <a:t>o</a:t>
            </a:r>
            <a:r>
              <a:rPr spc="-355" dirty="0"/>
              <a:t>n</a:t>
            </a:r>
            <a:r>
              <a:rPr spc="-850" dirty="0"/>
              <a:t> </a:t>
            </a:r>
            <a:r>
              <a:rPr spc="-715" dirty="0"/>
              <a:t>Strategy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4049" y="3289331"/>
            <a:ext cx="57727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Ensuring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Robust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2FC7C2-F776-4BC6-77F5-C16D5BA09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875545" y="874154"/>
            <a:ext cx="6202119" cy="3721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5425" y="5533421"/>
            <a:ext cx="8343265" cy="202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800" spc="-155" dirty="0">
                <a:solidFill>
                  <a:srgbClr val="FFFFFF"/>
                </a:solidFill>
                <a:latin typeface="Segoe UI Symbol"/>
                <a:cs typeface="Segoe UI Symbol"/>
              </a:rPr>
              <a:t>²</a:t>
            </a:r>
            <a:r>
              <a:rPr sz="2800" spc="-4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Achievement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800">
              <a:latin typeface="Arial"/>
              <a:cs typeface="Arial"/>
            </a:endParaRPr>
          </a:p>
          <a:p>
            <a:pPr marL="12700" marR="5080" algn="just">
              <a:lnSpc>
                <a:spcPts val="285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ensemble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achieved 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impressive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400" dirty="0">
                <a:solidFill>
                  <a:srgbClr val="FFFFFF"/>
                </a:solidFill>
                <a:latin typeface="Segoe UI Black"/>
                <a:cs typeface="Segoe UI Black"/>
              </a:rPr>
              <a:t>²</a:t>
            </a:r>
            <a:r>
              <a:rPr sz="2400" spc="-120" dirty="0">
                <a:solidFill>
                  <a:srgbClr val="FFFFFF"/>
                </a:solidFill>
                <a:latin typeface="Segoe UI Black"/>
                <a:cs typeface="Segoe UI Black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score </a:t>
            </a:r>
            <a:r>
              <a:rPr sz="2400" b="1" spc="-10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4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95.37%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demonstrating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prediction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robust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capabilities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accurately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forecasting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demand.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45425" y="2660014"/>
            <a:ext cx="462851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400" spc="-1225" dirty="0"/>
              <a:t>95.37%</a:t>
            </a:r>
            <a:endParaRPr sz="14400"/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27FA4-280F-9C4A-90BF-56077CE65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000" y="1104902"/>
            <a:ext cx="6278435" cy="7924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4075">
              <a:lnSpc>
                <a:spcPct val="100000"/>
              </a:lnSpc>
              <a:spcBef>
                <a:spcPts val="100"/>
              </a:spcBef>
            </a:pPr>
            <a:r>
              <a:rPr spc="-560" dirty="0"/>
              <a:t>Innovations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5425" y="4184681"/>
            <a:ext cx="9390380" cy="202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Encoding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b="1" spc="-30" dirty="0">
                <a:solidFill>
                  <a:srgbClr val="FFFFFF"/>
                </a:solidFill>
                <a:latin typeface="Trebuchet MS"/>
                <a:cs typeface="Trebuchet MS"/>
              </a:rPr>
              <a:t>Fold-</a:t>
            </a:r>
            <a:r>
              <a:rPr sz="2400" b="1" spc="-25" dirty="0">
                <a:solidFill>
                  <a:srgbClr val="FFFFFF"/>
                </a:solidFill>
                <a:latin typeface="Trebuchet MS"/>
                <a:cs typeface="Trebuchet MS"/>
              </a:rPr>
              <a:t>safe</a:t>
            </a:r>
            <a:r>
              <a:rPr sz="2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60" dirty="0">
                <a:solidFill>
                  <a:srgbClr val="FFFFFF"/>
                </a:solidFill>
                <a:latin typeface="Trebuchet MS"/>
                <a:cs typeface="Trebuchet MS"/>
              </a:rPr>
              <a:t>target</a:t>
            </a:r>
            <a:r>
              <a:rPr sz="24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FFFFFF"/>
                </a:solidFill>
                <a:latin typeface="Trebuchet MS"/>
                <a:cs typeface="Trebuchet MS"/>
              </a:rPr>
              <a:t>encoding</a:t>
            </a:r>
            <a:r>
              <a:rPr sz="2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ensures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reliable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predictions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preventing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leakage,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enhances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integrity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maintains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accuracy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folds.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60249" y="6870731"/>
            <a:ext cx="15481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Detection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60249" y="7778750"/>
            <a:ext cx="3449954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peak</a:t>
            </a:r>
            <a:r>
              <a:rPr sz="24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65"/>
              </a:lnSpc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identifies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critical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patterns.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5425" y="6870731"/>
            <a:ext cx="1889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5425" y="7778750"/>
            <a:ext cx="313309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features 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enhance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predictions.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9" name="object 9"/>
            <p:cNvSpPr/>
            <p:nvPr/>
          </p:nvSpPr>
          <p:spPr>
            <a:xfrm>
              <a:off x="0" y="66674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79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62024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799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15049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1652" y="1583550"/>
            <a:ext cx="3016068" cy="713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8125" y="1605000"/>
            <a:ext cx="3016068" cy="71160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05179" y="1562100"/>
            <a:ext cx="3016068" cy="7139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4049" y="1533480"/>
            <a:ext cx="6496685" cy="267081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2020"/>
              </a:spcBef>
            </a:pPr>
            <a:r>
              <a:rPr sz="9450" spc="-560" dirty="0"/>
              <a:t>Future</a:t>
            </a:r>
            <a:r>
              <a:rPr sz="9450" spc="-840" dirty="0"/>
              <a:t> </a:t>
            </a:r>
            <a:r>
              <a:rPr sz="9450" spc="-630" dirty="0"/>
              <a:t>Impact </a:t>
            </a:r>
            <a:r>
              <a:rPr sz="9450" spc="-665" dirty="0"/>
              <a:t>of</a:t>
            </a:r>
            <a:r>
              <a:rPr sz="9450" spc="-860" dirty="0"/>
              <a:t> </a:t>
            </a:r>
            <a:r>
              <a:rPr sz="9450" spc="-605" dirty="0"/>
              <a:t>Optimization</a:t>
            </a:r>
            <a:endParaRPr sz="9450"/>
          </a:p>
        </p:txBody>
      </p:sp>
      <p:sp>
        <p:nvSpPr>
          <p:cNvPr id="6" name="object 6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4049" y="5713158"/>
            <a:ext cx="5274945" cy="29883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spc="-160" dirty="0">
                <a:solidFill>
                  <a:srgbClr val="FFFFFF"/>
                </a:solidFill>
                <a:latin typeface="Arial"/>
                <a:cs typeface="Arial"/>
              </a:rPr>
              <a:t>Enhancing</a:t>
            </a:r>
            <a:r>
              <a:rPr sz="27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b="1" spc="-100" dirty="0">
                <a:solidFill>
                  <a:srgbClr val="FFFFFF"/>
                </a:solidFill>
                <a:latin typeface="Arial"/>
                <a:cs typeface="Arial"/>
              </a:rPr>
              <a:t>Urban</a:t>
            </a:r>
            <a:r>
              <a:rPr sz="27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b="1" spc="-10" dirty="0">
                <a:solidFill>
                  <a:srgbClr val="FFFFFF"/>
                </a:solidFill>
                <a:latin typeface="Arial"/>
                <a:cs typeface="Arial"/>
              </a:rPr>
              <a:t>Mobility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750">
              <a:latin typeface="Arial"/>
              <a:cs typeface="Arial"/>
            </a:endParaRPr>
          </a:p>
          <a:p>
            <a:pPr marL="12700" marR="5080">
              <a:lnSpc>
                <a:spcPts val="2700"/>
              </a:lnSpc>
            </a:pPr>
            <a:r>
              <a:rPr sz="2300" spc="-8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3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implementing</a:t>
            </a:r>
            <a:r>
              <a:rPr sz="23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23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solution,</a:t>
            </a:r>
            <a:r>
              <a:rPr sz="23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cities</a:t>
            </a:r>
            <a:r>
              <a:rPr sz="23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can </a:t>
            </a:r>
            <a:r>
              <a:rPr sz="2300" spc="-50" dirty="0">
                <a:solidFill>
                  <a:srgbClr val="FFFFFF"/>
                </a:solidFill>
                <a:latin typeface="Arial MT"/>
                <a:cs typeface="Arial MT"/>
              </a:rPr>
              <a:t>experience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b="1" spc="-60" dirty="0">
                <a:solidFill>
                  <a:srgbClr val="FFFFFF"/>
                </a:solidFill>
                <a:latin typeface="Trebuchet MS"/>
                <a:cs typeface="Trebuchet MS"/>
              </a:rPr>
              <a:t>smarter</a:t>
            </a:r>
            <a:r>
              <a:rPr sz="23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b="1" spc="-75" dirty="0">
                <a:solidFill>
                  <a:srgbClr val="FFFFFF"/>
                </a:solidFill>
                <a:latin typeface="Trebuchet MS"/>
                <a:cs typeface="Trebuchet MS"/>
              </a:rPr>
              <a:t>traffic</a:t>
            </a:r>
            <a:r>
              <a:rPr sz="23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reducing</a:t>
            </a:r>
            <a:r>
              <a:rPr sz="23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congestion</a:t>
            </a:r>
            <a:r>
              <a:rPr sz="23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3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promoting </a:t>
            </a:r>
            <a:r>
              <a:rPr sz="2300" spc="-50" dirty="0">
                <a:solidFill>
                  <a:srgbClr val="FFFFFF"/>
                </a:solidFill>
                <a:latin typeface="Arial MT"/>
                <a:cs typeface="Arial MT"/>
              </a:rPr>
              <a:t>sustainable</a:t>
            </a:r>
            <a:r>
              <a:rPr sz="23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urban</a:t>
            </a:r>
            <a:r>
              <a:rPr sz="23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r>
              <a:rPr sz="23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while 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embracing</a:t>
            </a:r>
            <a:r>
              <a:rPr sz="23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IoT</a:t>
            </a:r>
            <a:r>
              <a:rPr sz="23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technologies</a:t>
            </a:r>
            <a:r>
              <a:rPr sz="23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3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enhanced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connectivity.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8125" y="0"/>
              <a:ext cx="10429874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76274"/>
              <a:ext cx="7858125" cy="0"/>
            </a:xfrm>
            <a:custGeom>
              <a:avLst/>
              <a:gdLst/>
              <a:ahLst/>
              <a:cxnLst/>
              <a:rect l="l" t="t" r="r" b="b"/>
              <a:pathLst>
                <a:path w="7858125">
                  <a:moveTo>
                    <a:pt x="0" y="0"/>
                  </a:moveTo>
                  <a:lnTo>
                    <a:pt x="7858124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29774"/>
              <a:ext cx="7858125" cy="0"/>
            </a:xfrm>
            <a:custGeom>
              <a:avLst/>
              <a:gdLst/>
              <a:ahLst/>
              <a:cxnLst/>
              <a:rect l="l" t="t" r="r" b="b"/>
              <a:pathLst>
                <a:path w="7858125">
                  <a:moveTo>
                    <a:pt x="0" y="0"/>
                  </a:moveTo>
                  <a:lnTo>
                    <a:pt x="7858124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Thank</a:t>
            </a:r>
            <a:r>
              <a:rPr spc="-865" dirty="0"/>
              <a:t> </a:t>
            </a:r>
            <a:r>
              <a:rPr spc="-1095" dirty="0"/>
              <a:t>Y</a:t>
            </a:r>
            <a:r>
              <a:rPr spc="-725" dirty="0"/>
              <a:t>o</a:t>
            </a:r>
            <a:r>
              <a:rPr spc="-490" dirty="0"/>
              <a:t>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049" y="3302000"/>
            <a:ext cx="4939665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appreciate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engagement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presentation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on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prediction.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592</Words>
  <Application>Microsoft Office PowerPoint</Application>
  <PresentationFormat>Custom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Segoe UI Black</vt:lpstr>
      <vt:lpstr>Segoe UI Symbol</vt:lpstr>
      <vt:lpstr>Trebuchet MS</vt:lpstr>
      <vt:lpstr>Office Theme</vt:lpstr>
      <vt:lpstr>PowerPoint Presentation</vt:lpstr>
      <vt:lpstr>Problem Statement</vt:lpstr>
      <vt:lpstr>Proposed Solution</vt:lpstr>
      <vt:lpstr>Dataset Overview</vt:lpstr>
      <vt:lpstr>Feature Engineering</vt:lpstr>
      <vt:lpstr>Geohash Encoding</vt:lpstr>
      <vt:lpstr>Ensemble Architecture</vt:lpstr>
      <vt:lpstr>Validation Strategy</vt:lpstr>
      <vt:lpstr>95.37%</vt:lpstr>
      <vt:lpstr>Innovations</vt:lpstr>
      <vt:lpstr>Future Impact of Optimization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Optimizers</dc:title>
  <dc:creator>Durgesh Giri</dc:creator>
  <cp:keywords>DAHLrzon0_Q,BAGPondcMxY,0</cp:keywords>
  <cp:lastModifiedBy>saumya raj</cp:lastModifiedBy>
  <cp:revision>2</cp:revision>
  <dcterms:created xsi:type="dcterms:W3CDTF">2026-06-05T10:27:07Z</dcterms:created>
  <dcterms:modified xsi:type="dcterms:W3CDTF">2026-06-05T10:51:35Z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2026-06-05T00:00:00Z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